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46FAB-3FB9-44F8-BD7E-8A8A88C11D00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3507B-D503-441C-B753-95A706A91D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00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3507B-D503-441C-B753-95A706A91D9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0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AE667-4B10-D099-4EFF-3FCF3FCF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D92E2A2-6689-ED6A-AF39-CB1B5171E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FF2CDE7-32BD-C629-F2AA-F32E7B6D1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AA257C-607B-17B1-7441-92B08D7B2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3507B-D503-441C-B753-95A706A91D9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987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3D69E-2294-CB34-2B29-5686B403C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6EAA11B-9B2C-742D-F830-7E20C15BA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B17CA91-F757-0FEA-A4EB-4373883BF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441D14-EEF7-A84B-2135-D8F190BC1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3507B-D503-441C-B753-95A706A91D9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157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72778-6084-8592-6A9A-D7F7C20D9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40E0A3B-BB9A-6B68-1B2E-6C2590806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3700E50-9A61-BE9E-2C43-C194F5526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E50388-F2ED-2202-1D07-E32A7F3D5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3507B-D503-441C-B753-95A706A91D9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287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8D2C6-D982-D4EA-81E0-890D2D3D1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00ED91B-E586-CB76-2D1B-308ED9CD7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F3B0269-BC99-A69A-0F7F-639D77BAF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59807A-8F3E-2D37-AE8C-3A5A5C818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3507B-D503-441C-B753-95A706A91D9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9398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1344C-D1AF-C499-EFD3-CE564646D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84E07B9-4CFA-D3C9-A560-803D14471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714983D-E0D9-3706-008A-7BA4AB395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2A10DC-FDF6-1E66-54D8-ED7872924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3507B-D503-441C-B753-95A706A91D9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551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D33D8-5222-2C05-7986-B631A7487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DBAE3FA-638F-6403-4EA0-8D892FC6C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D30BC7C-559E-C810-C8CC-D21B7C560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93B149-9EB6-57C9-D340-BCA9B635C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3507B-D503-441C-B753-95A706A91D9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579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88723-EA55-822C-6F16-E88B6A4D9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EAEDE42-345D-2798-F913-D6CB5585F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F365E3F-4B54-57EF-85FC-0BD4D9042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B1A8DB-2A0B-5345-33B1-3196B9062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3507B-D503-441C-B753-95A706A91D9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234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15026-62E7-068C-C3BC-EBF19AECE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237167-0644-08B1-B7D6-2D7F23F39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F741BFB-DB32-384F-4081-0EC7830DB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202308-5999-42AE-16F0-A8A9FE264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3507B-D503-441C-B753-95A706A91D9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222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106.109.100.27\projects\2014\Samsung\BTL_Promotion\8.IT_School\Presentation\IT-School_vers1-1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8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2AA98-211F-40C2-AA9D-58BCE4328BC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0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6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02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399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7399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6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05979"/>
            <a:ext cx="6553200" cy="61317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16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85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21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31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2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8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49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\\106.109.100.27\projects\2014\Samsung\BTL_Promotion\8.IT_School\Presentation\IT-School_vers1-2.jpg"/>
          <p:cNvPicPr>
            <a:picLocks noChangeAspect="1" noChangeArrowheads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8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0" y="205979"/>
            <a:ext cx="6400800" cy="6893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52550"/>
            <a:ext cx="8229600" cy="3242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2AA98-211F-40C2-AA9D-58BCE4328BC3}" type="datetimeFigureOut">
              <a:rPr lang="en-US" smtClean="0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51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597819"/>
            <a:ext cx="7467600" cy="1102519"/>
          </a:xfrm>
        </p:spPr>
        <p:txBody>
          <a:bodyPr/>
          <a:lstStyle/>
          <a:p>
            <a:pPr algn="l"/>
            <a:r>
              <a:rPr lang="ru-RU" dirty="0"/>
              <a:t>Индивидуальный проект</a:t>
            </a:r>
            <a:br>
              <a:rPr lang="ru-RU" dirty="0">
                <a:solidFill>
                  <a:srgbClr val="FFFF00"/>
                </a:solidFill>
              </a:rPr>
            </a:br>
            <a:r>
              <a:rPr lang="ru-RU" dirty="0">
                <a:solidFill>
                  <a:srgbClr val="FFFF00"/>
                </a:solidFill>
              </a:rPr>
              <a:t>Коварные паронимы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Subtitle 4"/>
          <p:cNvSpPr txBox="1">
            <a:spLocks noGrp="1"/>
          </p:cNvSpPr>
          <p:nvPr>
            <p:ph type="subTitle" idx="1"/>
          </p:nvPr>
        </p:nvSpPr>
        <p:spPr>
          <a:xfrm>
            <a:off x="990600" y="3028950"/>
            <a:ext cx="1828800" cy="152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chemeClr val="bg1"/>
                </a:solidFill>
              </a:rPr>
              <a:t>Город:</a:t>
            </a:r>
          </a:p>
          <a:p>
            <a:pPr algn="r"/>
            <a:r>
              <a:rPr lang="ru-RU" sz="1600" dirty="0"/>
              <a:t>Площадка:</a:t>
            </a:r>
            <a:endParaRPr lang="ru-RU" sz="1600" dirty="0">
              <a:solidFill>
                <a:schemeClr val="bg1"/>
              </a:solidFill>
            </a:endParaRPr>
          </a:p>
          <a:p>
            <a:pPr algn="r"/>
            <a:r>
              <a:rPr lang="ru-RU" sz="1600" dirty="0">
                <a:solidFill>
                  <a:schemeClr val="bg1"/>
                </a:solidFill>
              </a:rPr>
              <a:t>Учащийся:</a:t>
            </a:r>
          </a:p>
          <a:p>
            <a:pPr algn="r"/>
            <a:r>
              <a:rPr lang="ru-RU" sz="1600" dirty="0"/>
              <a:t>Преподаватель:</a:t>
            </a:r>
            <a:endParaRPr lang="ru-RU" sz="1600" dirty="0">
              <a:solidFill>
                <a:schemeClr val="bg1"/>
              </a:solidFill>
            </a:endParaRPr>
          </a:p>
          <a:p>
            <a:pPr algn="r"/>
            <a:r>
              <a:rPr lang="ru-RU" sz="1600" dirty="0">
                <a:solidFill>
                  <a:schemeClr val="bg1"/>
                </a:solidFill>
              </a:rPr>
              <a:t>Дата: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ubtitle 4"/>
          <p:cNvSpPr txBox="1">
            <a:spLocks/>
          </p:cNvSpPr>
          <p:nvPr/>
        </p:nvSpPr>
        <p:spPr>
          <a:xfrm>
            <a:off x="2895600" y="3028950"/>
            <a:ext cx="3429000" cy="15204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Новосибирск</a:t>
            </a:r>
          </a:p>
          <a:p>
            <a:pPr lvl="0">
              <a:spcBef>
                <a:spcPct val="20000"/>
              </a:spcBef>
              <a:defRPr/>
            </a:pPr>
            <a:r>
              <a:rPr lang="ru-RU" sz="1600" dirty="0">
                <a:solidFill>
                  <a:schemeClr val="bg1"/>
                </a:solidFill>
              </a:rPr>
              <a:t>МАОУ «Инженерный лицей НГТУ»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Пушкина Алёна 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>
              <a:spcBef>
                <a:spcPct val="20000"/>
              </a:spcBef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Муль Павел Фридрихович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26.05.2026г.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60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558AEB-6587-373A-CB8B-3D2AAACAC986}"/>
              </a:ext>
            </a:extLst>
          </p:cNvPr>
          <p:cNvSpPr txBox="1"/>
          <p:nvPr/>
        </p:nvSpPr>
        <p:spPr>
          <a:xfrm>
            <a:off x="304800" y="1276350"/>
            <a:ext cx="41148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b="1" dirty="0"/>
              <a:t>Цель проекта</a:t>
            </a:r>
            <a:r>
              <a:rPr lang="ru-RU" sz="1500" dirty="0"/>
              <a:t> – разработать для десятиклассников мобильное приложение «Коварные паронимы», представляющее собой электронный тренажёр для занятий по русскому языку на тему «Паронимы».</a:t>
            </a:r>
          </a:p>
          <a:p>
            <a:endParaRPr lang="ru-RU" sz="1500" dirty="0"/>
          </a:p>
          <a:p>
            <a:r>
              <a:rPr lang="ru-RU" sz="1500" dirty="0"/>
              <a:t>Для её достижения необходимо решить следующие </a:t>
            </a:r>
            <a:r>
              <a:rPr lang="ru-RU" sz="1500" b="1" dirty="0"/>
              <a:t>задачи</a:t>
            </a:r>
            <a:r>
              <a:rPr lang="ru-RU" sz="1500" dirty="0"/>
              <a:t>:</a:t>
            </a:r>
          </a:p>
          <a:p>
            <a:r>
              <a:rPr lang="ru-RU" sz="1500" dirty="0"/>
              <a:t>1. Собрать и изучить информацию о паронимах.</a:t>
            </a:r>
          </a:p>
          <a:p>
            <a:r>
              <a:rPr lang="ru-RU" sz="1500" dirty="0"/>
              <a:t>2. Познакомиться со структурой создания мобильного приложения.</a:t>
            </a:r>
          </a:p>
          <a:p>
            <a:r>
              <a:rPr lang="ru-RU" sz="1500" dirty="0"/>
              <a:t>3. Подобрать 20 пар (рядов) паронимов и иллюстрации к ним. Придумать 2 уровня заданий и тест.</a:t>
            </a:r>
          </a:p>
          <a:p>
            <a:r>
              <a:rPr lang="ru-RU" sz="1500" dirty="0"/>
              <a:t>4. Создать приложение «Коварные паронимы».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E01914-0C0D-299D-CFB2-991817219E54}"/>
              </a:ext>
            </a:extLst>
          </p:cNvPr>
          <p:cNvSpPr txBox="1"/>
          <p:nvPr/>
        </p:nvSpPr>
        <p:spPr>
          <a:xfrm>
            <a:off x="2514600" y="20955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Цель и задачи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A45E6D-A062-7B55-6DBA-5CD6FC5E3C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42875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64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3BC6-B18A-BDDF-32D7-FA8964996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2C38F3-4A3F-DBD7-A9B5-3F64764B9D57}"/>
              </a:ext>
            </a:extLst>
          </p:cNvPr>
          <p:cNvSpPr txBox="1"/>
          <p:nvPr/>
        </p:nvSpPr>
        <p:spPr>
          <a:xfrm>
            <a:off x="145471" y="1504950"/>
            <a:ext cx="4426529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Приложение спроектировано по классическому паттерну </a:t>
            </a:r>
            <a:r>
              <a:rPr lang="en-US" sz="1500" b="1" dirty="0"/>
              <a:t>MVC (Model-View-Controller)</a:t>
            </a:r>
            <a:r>
              <a:rPr lang="en-US" sz="1500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Model (Модели данных):</a:t>
            </a:r>
            <a:r>
              <a:rPr lang="ru-RU" sz="1500" dirty="0"/>
              <a:t> Классы LevelData, SubLevel и TestQuestion. Они отвечают за структуру контента и полностью независимы от интерфейса.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View (Интерфейс):</a:t>
            </a:r>
            <a:r>
              <a:rPr lang="ru-RU" sz="1500" dirty="0"/>
              <a:t> Комплекс из 9 XML-разметок в тёмной теме, оптимизированных под горизонтальный (альбомный) режим экрана.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 err="1"/>
              <a:t>Controller</a:t>
            </a:r>
            <a:r>
              <a:rPr lang="ru-RU" sz="1500" b="1" dirty="0"/>
              <a:t> (Логика):</a:t>
            </a:r>
            <a:r>
              <a:rPr lang="ru-RU" sz="1500" dirty="0"/>
              <a:t> Набор Java-активностей (</a:t>
            </a:r>
            <a:r>
              <a:rPr lang="ru-RU" sz="1500" dirty="0" err="1"/>
              <a:t>Activity</a:t>
            </a:r>
            <a:r>
              <a:rPr lang="ru-RU" sz="1500" dirty="0"/>
              <a:t>), связывающих данные с интерфейсом и управляющих игровым процессом.</a:t>
            </a:r>
          </a:p>
          <a:p>
            <a:endParaRPr lang="ru-RU" sz="1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A002F4-56C6-1829-EAFD-61D4198A38A0}"/>
              </a:ext>
            </a:extLst>
          </p:cNvPr>
          <p:cNvSpPr txBox="1"/>
          <p:nvPr/>
        </p:nvSpPr>
        <p:spPr>
          <a:xfrm>
            <a:off x="2514600" y="20955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Структура проекта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2B699DA-9D0B-A45E-8FBB-90EF446201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3379" b="47170"/>
          <a:stretch>
            <a:fillRect/>
          </a:stretch>
        </p:blipFill>
        <p:spPr>
          <a:xfrm>
            <a:off x="4572000" y="1047750"/>
            <a:ext cx="2279071" cy="245438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FD7E91-B2F5-707E-E759-683B07DA3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8889" r="-11631"/>
          <a:stretch>
            <a:fillRect/>
          </a:stretch>
        </p:blipFill>
        <p:spPr>
          <a:xfrm>
            <a:off x="6631947" y="2821394"/>
            <a:ext cx="2484344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2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3F9BB-57C8-4AE4-8316-9757A2C2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F2C7F1-A6B4-402C-0C52-1428DEDF369D}"/>
              </a:ext>
            </a:extLst>
          </p:cNvPr>
          <p:cNvSpPr txBox="1"/>
          <p:nvPr/>
        </p:nvSpPr>
        <p:spPr>
          <a:xfrm>
            <a:off x="228600" y="1526597"/>
            <a:ext cx="44265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Классы-карточки, инкапсулирующие учебный контент: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LevelData (1 уровень):</a:t>
            </a:r>
            <a:r>
              <a:rPr lang="ru-RU" sz="1500" dirty="0"/>
              <a:t> Содержит заголовок пары, 3 контекстных предложения, развёрнутую словарную справку, фоновое изображение и массив логических ответов (boolean[]).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SubLevel (2 уровень):</a:t>
            </a:r>
            <a:r>
              <a:rPr lang="ru-RU" sz="1500" dirty="0"/>
              <a:t> Связывает ID картинки-ассоциации, слово-подсказку и скрытое слово для проверки ввода.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TestQuestion (Итоговый тест):</a:t>
            </a:r>
            <a:r>
              <a:rPr lang="ru-RU" sz="1500" dirty="0"/>
              <a:t> Хранит предложение с пропуском, два варианта ответа и индекс правильного варианта (1 или 2).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D8AC9-0903-89D3-8919-AA1F1D9EC627}"/>
              </a:ext>
            </a:extLst>
          </p:cNvPr>
          <p:cNvSpPr txBox="1"/>
          <p:nvPr/>
        </p:nvSpPr>
        <p:spPr>
          <a:xfrm>
            <a:off x="2441864" y="228913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</a:rPr>
              <a:t>Модели данных 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5D8B0A9-AEA0-79D5-D942-3301AA5DE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129" y="1030806"/>
            <a:ext cx="3919594" cy="409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561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02E42-EA21-8147-1B4F-974A44DC8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BF9F34-BFF9-7C92-60D2-0366B5FAED11}"/>
              </a:ext>
            </a:extLst>
          </p:cNvPr>
          <p:cNvSpPr txBox="1"/>
          <p:nvPr/>
        </p:nvSpPr>
        <p:spPr>
          <a:xfrm>
            <a:off x="609600" y="1047750"/>
            <a:ext cx="7239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ActivityModeSelection:</a:t>
            </a:r>
            <a:r>
              <a:rPr lang="ru-RU" sz="1500" dirty="0"/>
              <a:t> Главное меню, реализующее асинхронные переходы между игровыми режимами через систему </a:t>
            </a:r>
            <a:r>
              <a:rPr lang="ru-RU" sz="1500" b="1" dirty="0"/>
              <a:t>Intent</a:t>
            </a:r>
            <a:r>
              <a:rPr lang="ru-RU" sz="15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BaseActivity:</a:t>
            </a:r>
            <a:r>
              <a:rPr lang="ru-RU" sz="1500" dirty="0"/>
              <a:t> Общий родительский класс для всех экранов приложения. </a:t>
            </a:r>
            <a:r>
              <a:rPr lang="ru-RU" sz="1500" b="1" dirty="0"/>
              <a:t>Современный полноэкранный режим:</a:t>
            </a:r>
            <a:r>
              <a:rPr lang="ru-RU" sz="1500" dirty="0"/>
              <a:t> Использование системных утилит WindowCompat и WindowInsetsControllerCompat.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Результат:</a:t>
            </a:r>
            <a:r>
              <a:rPr lang="ru-RU" sz="1500" dirty="0"/>
              <a:t> Системная шторка навигации автоматически прячется на всех экранах приложения, освобождая место под интерфейс и исключая случайные нажатия во время игры.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9C7D5-93F6-38DF-1278-65989A7A8859}"/>
              </a:ext>
            </a:extLst>
          </p:cNvPr>
          <p:cNvSpPr txBox="1"/>
          <p:nvPr/>
        </p:nvSpPr>
        <p:spPr>
          <a:xfrm>
            <a:off x="2514600" y="20955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Навигация и базовый класс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B53406-B598-4F02-22BE-E9FE70DEE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795416"/>
            <a:ext cx="6174288" cy="213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69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C0161-080A-EBE0-3544-C5581B47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06638A-E837-7825-B81E-5FAEED663243}"/>
              </a:ext>
            </a:extLst>
          </p:cNvPr>
          <p:cNvSpPr txBox="1"/>
          <p:nvPr/>
        </p:nvSpPr>
        <p:spPr>
          <a:xfrm>
            <a:off x="152401" y="1047750"/>
            <a:ext cx="85343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Игровая механика:</a:t>
            </a:r>
            <a:r>
              <a:rPr lang="ru-RU" sz="1500" dirty="0"/>
              <a:t> Ученик выступает в роли редактора и отмечает галочкой (верно) или крестиком (неверно) употребление паронимов в трёх предложениях подряд.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Методы checkAnswer и applyNewImage:</a:t>
            </a:r>
            <a:r>
              <a:rPr lang="ru-RU" sz="1500" dirty="0"/>
              <a:t> Динамически проверяют логические флаги и мгновенно подсвечивают строку зелёным или красным цветом.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Аппаратная блокировка:</a:t>
            </a:r>
            <a:r>
              <a:rPr lang="ru-RU" sz="1500" dirty="0"/>
              <a:t> Кнопка «Далее» заблокирована (setEnabled(false)) и активируется только после того, как ученик сделает выбор во всех трёх пунктах текущего слайда.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Словарь (dialog_dictionary.xml):</a:t>
            </a:r>
            <a:r>
              <a:rPr lang="ru-RU" sz="1500" dirty="0"/>
              <a:t> Вывод развёрнутого правила из модели данных во всплывающее окно.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7D5095-93F0-0659-8D01-2143CC6C7803}"/>
              </a:ext>
            </a:extLst>
          </p:cNvPr>
          <p:cNvSpPr txBox="1"/>
          <p:nvPr/>
        </p:nvSpPr>
        <p:spPr>
          <a:xfrm>
            <a:off x="2514600" y="20955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Уровень 1 — Словарь контекстов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3F5FB2-076E-B69B-8886-23A503F9AA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30" b="48431"/>
          <a:stretch>
            <a:fillRect/>
          </a:stretch>
        </p:blipFill>
        <p:spPr>
          <a:xfrm>
            <a:off x="1743900" y="2952750"/>
            <a:ext cx="6494400" cy="177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05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F0E01-2E1F-578F-3C89-780872CA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A1A55F-D9D4-922E-8130-BBA742A65E4D}"/>
              </a:ext>
            </a:extLst>
          </p:cNvPr>
          <p:cNvSpPr txBox="1"/>
          <p:nvPr/>
        </p:nvSpPr>
        <p:spPr>
          <a:xfrm>
            <a:off x="114301" y="1047750"/>
            <a:ext cx="40767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Игровая механика:</a:t>
            </a:r>
            <a:r>
              <a:rPr lang="ru-RU" sz="1500" dirty="0"/>
              <a:t> Ввод пропущенного паронима вручную по картинке-подсказке.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Рандомизация:</a:t>
            </a:r>
            <a:r>
              <a:rPr lang="ru-RU" sz="1500" dirty="0"/>
              <a:t> Метод Collections.shuffle(subLevels) перемешивает задания при каждом новом старте уровня.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Контроль интерфейса (TextWatcher):</a:t>
            </a:r>
            <a:r>
              <a:rPr lang="ru-RU" sz="1500" dirty="0"/>
              <a:t> Анализ ввода в реальном времени. Кнопка «ГОТОВО» блокируется при пустой строке. Текст ошибки и цвет шрифта сбрасываются при вводе новой буквы.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500" b="1" dirty="0"/>
              <a:t>Умная система попыток:</a:t>
            </a:r>
            <a:r>
              <a:rPr lang="ru-RU" sz="1500" dirty="0"/>
              <a:t> При первой ошибке поле очищается и меняется Hint. При второй ошибке — программа выводит правильный ответ на экран и открывает кнопку «Далее».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9C33D-8F8D-5343-B6C6-23B71DA158FC}"/>
              </a:ext>
            </a:extLst>
          </p:cNvPr>
          <p:cNvSpPr txBox="1"/>
          <p:nvPr/>
        </p:nvSpPr>
        <p:spPr>
          <a:xfrm>
            <a:off x="2514600" y="209550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Уровень 2 — Интерактивный ввод слова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5059DD-14C7-D366-D2F3-B9CB1EC3A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047750"/>
            <a:ext cx="4116553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9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9BBF8-CC61-D4F1-9021-1FAF4E7E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3FB11C-8503-B4BC-A40E-3B941851DAF3}"/>
              </a:ext>
            </a:extLst>
          </p:cNvPr>
          <p:cNvSpPr txBox="1"/>
          <p:nvPr/>
        </p:nvSpPr>
        <p:spPr>
          <a:xfrm>
            <a:off x="114300" y="1047750"/>
            <a:ext cx="88010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/>
              <a:t>Алгоритм «10 из 20»:</a:t>
            </a:r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В памяти инициализируется массив из 20 предложений.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Массив случайно перемешивается.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Цикл отсекает строго </a:t>
            </a:r>
            <a:r>
              <a:rPr lang="ru-RU" b="1" dirty="0"/>
              <a:t>первые 10 вопросов</a:t>
            </a:r>
            <a:r>
              <a:rPr lang="ru-RU" dirty="0"/>
              <a:t> для текущей игровой сессии.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/>
              <a:t>Подсчёт результатов:</a:t>
            </a:r>
            <a:r>
              <a:rPr lang="ru-RU" dirty="0"/>
              <a:t> Начисление баллов в переменную score и передача данных на финальный экран.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1D763-C791-F81F-A7BC-3265C6325642}"/>
              </a:ext>
            </a:extLst>
          </p:cNvPr>
          <p:cNvSpPr txBox="1"/>
          <p:nvPr/>
        </p:nvSpPr>
        <p:spPr>
          <a:xfrm>
            <a:off x="2514600" y="209550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Алгоритм итогового тестирования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30BCEC6-ACD4-897E-3BEC-951922AE0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608118"/>
            <a:ext cx="6096000" cy="210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64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83F45-92B8-8BEF-AD5A-73A0E7C7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AC1ADB-5815-A294-F416-7C08272F6BC3}"/>
              </a:ext>
            </a:extLst>
          </p:cNvPr>
          <p:cNvSpPr txBox="1"/>
          <p:nvPr/>
        </p:nvSpPr>
        <p:spPr>
          <a:xfrm>
            <a:off x="114301" y="1047750"/>
            <a:ext cx="4076700" cy="409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/>
              <a:t>Динамическая оценка:</a:t>
            </a:r>
            <a:r>
              <a:rPr lang="ru-RU" dirty="0"/>
              <a:t> Ранжирование комментариев и аватарок по набранным баллам (диапазоны 0-3, 4-6, 7-9, 10).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/>
              <a:t>Многопоточность (ExecutorService):</a:t>
            </a:r>
            <a:r>
              <a:rPr lang="ru-RU" dirty="0"/>
              <a:t> Тяжёлое декодирование GIF-анимации салюта за 10 баллов вынесено из главного UI-потока в фоновый поток.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/>
              <a:t>Синхронизация потоков (Handler):</a:t>
            </a:r>
            <a:r>
              <a:rPr lang="ru-RU" dirty="0"/>
              <a:t> Возврат в главный поток через Looper.getMainLooper() для безопасного вывода анимации на экран.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8DA2B-EB24-34D5-0DC0-1C207E252F62}"/>
              </a:ext>
            </a:extLst>
          </p:cNvPr>
          <p:cNvSpPr txBox="1"/>
          <p:nvPr/>
        </p:nvSpPr>
        <p:spPr>
          <a:xfrm>
            <a:off x="2514600" y="209550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Оптимизация экрана финиша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F5BC3A-9B65-DD4D-4617-BD7F4AEC0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977" y="1047750"/>
            <a:ext cx="3875623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863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D1A6A-BFFE-5D1C-8847-E87B73FC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AC973-FA4D-121C-5C89-756F414047C0}"/>
              </a:ext>
            </a:extLst>
          </p:cNvPr>
          <p:cNvSpPr txBox="1"/>
          <p:nvPr/>
        </p:nvSpPr>
        <p:spPr>
          <a:xfrm>
            <a:off x="228600" y="1200150"/>
            <a:ext cx="40767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/>
              <a:t>Результат разработки:</a:t>
            </a:r>
            <a:r>
              <a:rPr lang="ru-RU" dirty="0"/>
              <a:t> Создано полноценное, архитектурно правильное и оптимизированное образовательное приложение.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/>
              <a:t>Дополнительные модули:</a:t>
            </a:r>
            <a:r>
              <a:rPr lang="ru-RU" dirty="0"/>
              <a:t> Реализованы экраны инструкций (instruction.xml) и развёрнутая база контекстов.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/>
              <a:t>Публикация проекта:</a:t>
            </a:r>
            <a:r>
              <a:rPr lang="ru-RU" dirty="0"/>
              <a:t> Исходный код и готовый установочный файл </a:t>
            </a:r>
            <a:r>
              <a:rPr lang="ru-RU" b="1" dirty="0"/>
              <a:t>.apk</a:t>
            </a:r>
            <a:r>
              <a:rPr lang="ru-RU" dirty="0"/>
              <a:t> успешно опубликованы в открытом репозитории на </a:t>
            </a:r>
            <a:r>
              <a:rPr lang="ru-RU" b="1" dirty="0"/>
              <a:t>GitHub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8919C-ACC8-6F13-9816-0BC35E3914FC}"/>
              </a:ext>
            </a:extLst>
          </p:cNvPr>
          <p:cNvSpPr txBox="1"/>
          <p:nvPr/>
        </p:nvSpPr>
        <p:spPr>
          <a:xfrm>
            <a:off x="2514600" y="209550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Заключение и публикация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982559-9BE3-C6E6-B2D6-C250D46C8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352550"/>
            <a:ext cx="3836669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3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682</Words>
  <Application>Microsoft Office PowerPoint</Application>
  <PresentationFormat>Экран (16:9)</PresentationFormat>
  <Paragraphs>66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Wingdings</vt:lpstr>
      <vt:lpstr>Office Theme</vt:lpstr>
      <vt:lpstr>Индивидуальный проект Коварные паронимы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Yulia Bortsova</dc:creator>
  <cp:lastModifiedBy>a.pushkina2000@gmail.com</cp:lastModifiedBy>
  <cp:revision>9</cp:revision>
  <dcterms:created xsi:type="dcterms:W3CDTF">2014-12-09T14:15:18Z</dcterms:created>
  <dcterms:modified xsi:type="dcterms:W3CDTF">2026-05-25T16:34:04Z</dcterms:modified>
</cp:coreProperties>
</file>